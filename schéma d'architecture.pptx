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B0F46-2F7E-CCCD-2AB6-BD993779C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7E4932-9AEE-3BE2-83DB-C2FA33535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6D4C2A-26E8-F9BD-1324-E7239AD1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7EEB4E-7D2C-5F2A-49CC-855EF4FE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6BEC12-984E-1777-9FEB-7A5BA378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26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C38478-9B7E-8ACC-D851-19116393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C187B2-48DA-3C28-9FB0-2D635565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AF58DB-14E4-E834-C81C-7959DE27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E64269-292F-96BF-79DC-4C70F9C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B36E4B-5788-63A8-6778-E1856D47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03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D24978-0948-AC81-C081-CFBE4D64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3E9016-F444-0FB4-0A7A-8BD5A98E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F4372E-3301-A8B4-D023-1298DBDF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ED6456-4FF1-EF0A-9A5D-7448ECA6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13DB9E-5283-7EA3-8861-43236244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89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067F73-EC32-A1D0-EFC3-65E0F5E7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2F182-750F-B66D-F327-299AA3216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F0BCD3-08FA-D6D3-84C0-9B6304BB3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7F5EC6-61DC-40E6-AE39-AAF7FDB9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01EDED-1F73-DDC6-C443-E12C6697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CDADAE-7B3C-9F5E-92C1-EBE4A2C9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29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50F65-D025-CF05-8979-F33FE12B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45E0BB-3FD0-6B7A-F081-B146D955E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7456A7-2654-1EB0-CB2F-AE3195B4A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500C57-C9B5-8E75-D531-75212EAF1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931521-1005-3300-C4B4-774E20D77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BB2348-A310-151E-9F07-2360F73D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BB62CF-CC74-DCC1-45BC-CDCFF3DD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B702E4F-1BD4-4572-4B17-BFF1CC6F7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57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21B32-AEAC-07F7-40D0-9E38B127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0E7AAD-ECF2-5E07-F63C-13A2E3C9D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25BCF36-A4B2-9490-C242-3D5C6C06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D01E7E-E905-56AA-BACE-B97548B0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990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EE1D92-6886-798F-FAF8-015D381D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1EFD38-9DD0-6736-2ECF-A7CDA74A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64EA8A-EF34-DD7C-90A7-8167DFDC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970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A42-CBB5-2E06-734C-CDDC7BAC7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CCB20A-F5E2-D866-73F6-664658741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F102DE-3F44-886C-E5E1-34EC78519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2E140E-83F8-41EE-6B72-808B82C0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61759B-21B7-74B6-2815-85BE92DE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15DE75-8509-9D8F-5228-654BB837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26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E8ADAC-FE42-DF01-7716-0C7200F4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B597A3-774B-209D-CAA2-46D6EA5E6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AE1E9D-68E5-72E4-614B-985671703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335BD9-12A3-1977-DD68-BE845D1C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89BD51-20A0-367C-7D79-41C72719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89755A-AE22-5DE4-F321-7343045D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63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E33F8-F4EA-E8F1-EDAB-F2F1FE20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5604E11-2FC5-A23A-7426-EED31AB62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3AD0AC-2FB9-B2BD-4BD6-2582EF7B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EA11FF-F215-2163-9680-611A22974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98517-EC67-EA3D-610E-A024D8E4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65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75E5C5C-BD1B-EF1D-9884-8EA4474E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C5B093-32B1-99EF-DFBE-D37B1AAC8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EB0BBA-BAE3-F028-D6C4-4671CFE4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BBE93A-6391-4446-2D9B-7273FDCF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987841-D668-115D-83EC-98646C3F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24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3589006-3920-A898-2EE6-94CC885CD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D18654-710A-7759-5C4B-3EC4EEB3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C109AB-74B9-1B5F-5650-33AB62221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23BBB-A930-418C-A276-F1EE071B6450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2D00FE-6FDF-02D5-5E43-F661984CD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CBC4E1-6136-868B-36E7-A326CAB0C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CC709-E2CC-4B4E-BD11-3D294F2421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77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ganigramme : Document 3">
            <a:extLst>
              <a:ext uri="{FF2B5EF4-FFF2-40B4-BE49-F238E27FC236}">
                <a16:creationId xmlns:a16="http://schemas.microsoft.com/office/drawing/2014/main" id="{5844BFE5-270B-F169-E7D0-A5D60746B90A}"/>
              </a:ext>
            </a:extLst>
          </p:cNvPr>
          <p:cNvSpPr/>
          <p:nvPr/>
        </p:nvSpPr>
        <p:spPr>
          <a:xfrm>
            <a:off x="81317" y="4030473"/>
            <a:ext cx="1975104" cy="804672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/>
              <a:t>open_meteo_hourly.json</a:t>
            </a:r>
            <a:endParaRPr lang="fr-FR" sz="1600" dirty="0"/>
          </a:p>
        </p:txBody>
      </p:sp>
      <p:pic>
        <p:nvPicPr>
          <p:cNvPr id="6" name="Graphique 5" descr="Base de données avec un remplissage uni">
            <a:extLst>
              <a:ext uri="{FF2B5EF4-FFF2-40B4-BE49-F238E27FC236}">
                <a16:creationId xmlns:a16="http://schemas.microsoft.com/office/drawing/2014/main" id="{DE7F8215-F027-607C-6ECE-0C03F94EE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044" y="1252186"/>
            <a:ext cx="914400" cy="9144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5CEB776-FFF9-D98D-289A-714589243160}"/>
              </a:ext>
            </a:extLst>
          </p:cNvPr>
          <p:cNvSpPr txBox="1"/>
          <p:nvPr/>
        </p:nvSpPr>
        <p:spPr>
          <a:xfrm>
            <a:off x="375449" y="2111793"/>
            <a:ext cx="16093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Données stockées dans une table MySQL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38A11E-C18C-F849-899C-10CCADFE135A}"/>
              </a:ext>
            </a:extLst>
          </p:cNvPr>
          <p:cNvSpPr txBox="1"/>
          <p:nvPr/>
        </p:nvSpPr>
        <p:spPr>
          <a:xfrm>
            <a:off x="21881" y="945529"/>
            <a:ext cx="2459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solar_energy_production</a:t>
            </a:r>
            <a:endParaRPr lang="fr-FR" sz="1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AD3EAD6-9158-FF9F-E473-D479001AE3F6}"/>
              </a:ext>
            </a:extLst>
          </p:cNvPr>
          <p:cNvSpPr txBox="1"/>
          <p:nvPr/>
        </p:nvSpPr>
        <p:spPr>
          <a:xfrm>
            <a:off x="81317" y="5012072"/>
            <a:ext cx="1691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Fichier </a:t>
            </a:r>
            <a:r>
              <a:rPr lang="fr-FR" sz="1600" b="1" dirty="0" err="1"/>
              <a:t>json</a:t>
            </a:r>
            <a:endParaRPr lang="fr-FR" sz="1600" b="1" dirty="0"/>
          </a:p>
          <a:p>
            <a:pPr algn="ctr"/>
            <a:r>
              <a:rPr lang="fr-FR" sz="1600" b="1" dirty="0"/>
              <a:t>Stocké en local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2BFEEA-9DBC-3BF1-DF25-7A35DAE9DDAA}"/>
              </a:ext>
            </a:extLst>
          </p:cNvPr>
          <p:cNvSpPr/>
          <p:nvPr/>
        </p:nvSpPr>
        <p:spPr>
          <a:xfrm>
            <a:off x="3979917" y="1838234"/>
            <a:ext cx="1464062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Bronze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78C7BDF-399A-717E-0853-0D8EE2FC21C3}"/>
              </a:ext>
            </a:extLst>
          </p:cNvPr>
          <p:cNvCxnSpPr/>
          <p:nvPr/>
        </p:nvCxnSpPr>
        <p:spPr>
          <a:xfrm>
            <a:off x="5879592" y="1434356"/>
            <a:ext cx="0" cy="5449824"/>
          </a:xfrm>
          <a:prstGeom prst="line">
            <a:avLst/>
          </a:prstGeom>
          <a:ln w="19050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D5B7B5F-EED9-9FB2-7086-EBB12F1B825F}"/>
              </a:ext>
            </a:extLst>
          </p:cNvPr>
          <p:cNvCxnSpPr/>
          <p:nvPr/>
        </p:nvCxnSpPr>
        <p:spPr>
          <a:xfrm>
            <a:off x="8244840" y="1335411"/>
            <a:ext cx="0" cy="5449824"/>
          </a:xfrm>
          <a:prstGeom prst="line">
            <a:avLst/>
          </a:prstGeom>
          <a:ln w="19050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267D3BE-B7C4-D34E-77A8-24B0FEDBD724}"/>
              </a:ext>
            </a:extLst>
          </p:cNvPr>
          <p:cNvSpPr/>
          <p:nvPr/>
        </p:nvSpPr>
        <p:spPr>
          <a:xfrm>
            <a:off x="6316979" y="1838234"/>
            <a:ext cx="1464062" cy="5847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Silver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C0355E-4C12-3CE8-3339-FCF12A6D72C0}"/>
              </a:ext>
            </a:extLst>
          </p:cNvPr>
          <p:cNvSpPr/>
          <p:nvPr/>
        </p:nvSpPr>
        <p:spPr>
          <a:xfrm>
            <a:off x="8614602" y="1838234"/>
            <a:ext cx="1488566" cy="584775"/>
          </a:xfrm>
          <a:prstGeom prst="rect">
            <a:avLst/>
          </a:prstGeom>
          <a:solidFill>
            <a:srgbClr val="D8D25A"/>
          </a:solidFill>
          <a:ln>
            <a:solidFill>
              <a:srgbClr val="D8D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Gold</a:t>
            </a:r>
          </a:p>
        </p:txBody>
      </p:sp>
      <p:pic>
        <p:nvPicPr>
          <p:cNvPr id="1026" name="Picture 2" descr="Manipuler vos fichiers sur HDFS en ligne de commandes">
            <a:extLst>
              <a:ext uri="{FF2B5EF4-FFF2-40B4-BE49-F238E27FC236}">
                <a16:creationId xmlns:a16="http://schemas.microsoft.com/office/drawing/2014/main" id="{29BDE20D-0D2D-F007-41CE-D86A30177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930" y="2935742"/>
            <a:ext cx="1086329" cy="38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ySQL Logo PNG Transparent &amp; SVG Vector - Freebie Supply">
            <a:extLst>
              <a:ext uri="{FF2B5EF4-FFF2-40B4-BE49-F238E27FC236}">
                <a16:creationId xmlns:a16="http://schemas.microsoft.com/office/drawing/2014/main" id="{6C387210-78AD-DA4D-4357-F23DE77F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75" y="1360442"/>
            <a:ext cx="750249" cy="75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 descr="MySQL Logo PNG Transparent &amp; SVG Vector - Freebie Supply">
            <a:extLst>
              <a:ext uri="{FF2B5EF4-FFF2-40B4-BE49-F238E27FC236}">
                <a16:creationId xmlns:a16="http://schemas.microsoft.com/office/drawing/2014/main" id="{1C492AB8-0982-AED7-2131-BA51E2B8E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894" y="2750724"/>
            <a:ext cx="750249" cy="75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BBF8FD4E-7805-51BA-BAA4-53B143940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444" y="2887529"/>
            <a:ext cx="917448" cy="47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EBF97EA-73DE-1AFD-6307-8698E93CD5F5}"/>
              </a:ext>
            </a:extLst>
          </p:cNvPr>
          <p:cNvCxnSpPr>
            <a:stCxn id="7" idx="3"/>
            <a:endCxn id="1038" idx="1"/>
          </p:cNvCxnSpPr>
          <p:nvPr/>
        </p:nvCxnSpPr>
        <p:spPr>
          <a:xfrm>
            <a:off x="1984793" y="2481125"/>
            <a:ext cx="483651" cy="644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2EB90C4-0389-869F-F31C-EE87BF54DF0E}"/>
              </a:ext>
            </a:extLst>
          </p:cNvPr>
          <p:cNvCxnSpPr>
            <a:cxnSpLocks/>
            <a:stCxn id="4" idx="3"/>
            <a:endCxn id="1038" idx="1"/>
          </p:cNvCxnSpPr>
          <p:nvPr/>
        </p:nvCxnSpPr>
        <p:spPr>
          <a:xfrm flipV="1">
            <a:off x="2056421" y="3125851"/>
            <a:ext cx="412023" cy="130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C5A5951E-FE47-33C2-B5D0-218BFFACA6A5}"/>
              </a:ext>
            </a:extLst>
          </p:cNvPr>
          <p:cNvCxnSpPr>
            <a:stCxn id="1038" idx="3"/>
            <a:endCxn id="1026" idx="1"/>
          </p:cNvCxnSpPr>
          <p:nvPr/>
        </p:nvCxnSpPr>
        <p:spPr>
          <a:xfrm flipV="1">
            <a:off x="3385892" y="3125850"/>
            <a:ext cx="43003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C904FEC2-E891-643C-96F1-5B745940A12B}"/>
              </a:ext>
            </a:extLst>
          </p:cNvPr>
          <p:cNvSpPr txBox="1"/>
          <p:nvPr/>
        </p:nvSpPr>
        <p:spPr>
          <a:xfrm>
            <a:off x="2402665" y="3493829"/>
            <a:ext cx="1032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feeder.py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9DCE103-97EC-1189-412A-C77CFF7822A3}"/>
              </a:ext>
            </a:extLst>
          </p:cNvPr>
          <p:cNvSpPr txBox="1"/>
          <p:nvPr/>
        </p:nvSpPr>
        <p:spPr>
          <a:xfrm>
            <a:off x="3815930" y="4348585"/>
            <a:ext cx="1762077" cy="954107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Stockage des données brutes sur HDFS au format parquet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BDABDE2-F28C-E52B-78E3-79712C367177}"/>
              </a:ext>
            </a:extLst>
          </p:cNvPr>
          <p:cNvSpPr txBox="1"/>
          <p:nvPr/>
        </p:nvSpPr>
        <p:spPr>
          <a:xfrm>
            <a:off x="3815930" y="5390036"/>
            <a:ext cx="1762077" cy="954107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Partitionnement par jour (bronze/</a:t>
            </a:r>
            <a:r>
              <a:rPr lang="fr-FR" sz="1400" dirty="0" err="1"/>
              <a:t>year</a:t>
            </a:r>
            <a:r>
              <a:rPr lang="fr-FR" sz="1400" dirty="0"/>
              <a:t>/</a:t>
            </a:r>
            <a:r>
              <a:rPr lang="fr-FR" sz="1400" dirty="0" err="1"/>
              <a:t>month</a:t>
            </a:r>
            <a:r>
              <a:rPr lang="fr-FR" sz="1400" dirty="0"/>
              <a:t>/</a:t>
            </a:r>
            <a:r>
              <a:rPr lang="fr-FR" sz="1400" dirty="0" err="1"/>
              <a:t>day</a:t>
            </a:r>
            <a:r>
              <a:rPr lang="fr-FR" sz="1400" dirty="0"/>
              <a:t> )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6A6717A-E110-883F-EF12-0AA4DA2A799E}"/>
              </a:ext>
            </a:extLst>
          </p:cNvPr>
          <p:cNvSpPr txBox="1"/>
          <p:nvPr/>
        </p:nvSpPr>
        <p:spPr>
          <a:xfrm>
            <a:off x="6181177" y="3804942"/>
            <a:ext cx="1762077" cy="116955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Stockage des données sur HDFS au format parquet, </a:t>
            </a:r>
            <a:r>
              <a:rPr lang="fr-FR" sz="1400" dirty="0" err="1"/>
              <a:t>partitonnement</a:t>
            </a:r>
            <a:r>
              <a:rPr lang="fr-FR" sz="1400" dirty="0"/>
              <a:t> par mois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FE0C72F-E3A8-5609-5076-8A6BB8609E53}"/>
              </a:ext>
            </a:extLst>
          </p:cNvPr>
          <p:cNvSpPr txBox="1"/>
          <p:nvPr/>
        </p:nvSpPr>
        <p:spPr>
          <a:xfrm>
            <a:off x="6181178" y="5222462"/>
            <a:ext cx="1762077" cy="52322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Règles de validation des données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3C50930-08D0-5A32-E8A3-8235DB140B28}"/>
              </a:ext>
            </a:extLst>
          </p:cNvPr>
          <p:cNvSpPr txBox="1"/>
          <p:nvPr/>
        </p:nvSpPr>
        <p:spPr>
          <a:xfrm>
            <a:off x="6181177" y="5979400"/>
            <a:ext cx="1762077" cy="52322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Normalisation des données</a:t>
            </a:r>
          </a:p>
        </p:txBody>
      </p:sp>
      <p:pic>
        <p:nvPicPr>
          <p:cNvPr id="52" name="Picture 2" descr="Manipuler vos fichiers sur HDFS en ligne de commandes">
            <a:extLst>
              <a:ext uri="{FF2B5EF4-FFF2-40B4-BE49-F238E27FC236}">
                <a16:creationId xmlns:a16="http://schemas.microsoft.com/office/drawing/2014/main" id="{CF984E9F-B950-2D84-95BC-99C1F55C5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554" y="2935742"/>
            <a:ext cx="1086329" cy="38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2E5EA89E-D3ED-A425-8037-F5DAC9F92CCC}"/>
              </a:ext>
            </a:extLst>
          </p:cNvPr>
          <p:cNvCxnSpPr/>
          <p:nvPr/>
        </p:nvCxnSpPr>
        <p:spPr>
          <a:xfrm>
            <a:off x="5074920" y="3125850"/>
            <a:ext cx="1242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0B8928FB-0AB8-8778-0745-CE4C73FCF062}"/>
              </a:ext>
            </a:extLst>
          </p:cNvPr>
          <p:cNvCxnSpPr>
            <a:stCxn id="52" idx="3"/>
            <a:endCxn id="20" idx="1"/>
          </p:cNvCxnSpPr>
          <p:nvPr/>
        </p:nvCxnSpPr>
        <p:spPr>
          <a:xfrm flipV="1">
            <a:off x="7550883" y="3125849"/>
            <a:ext cx="145801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14">
            <a:extLst>
              <a:ext uri="{FF2B5EF4-FFF2-40B4-BE49-F238E27FC236}">
                <a16:creationId xmlns:a16="http://schemas.microsoft.com/office/drawing/2014/main" id="{232AA00F-7D7F-D7FE-4B7E-01709F906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907" y="2863710"/>
            <a:ext cx="518767" cy="26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4">
            <a:extLst>
              <a:ext uri="{FF2B5EF4-FFF2-40B4-BE49-F238E27FC236}">
                <a16:creationId xmlns:a16="http://schemas.microsoft.com/office/drawing/2014/main" id="{81B9C3E2-A6C2-56D1-4CD8-C5883535B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263" y="2873856"/>
            <a:ext cx="518767" cy="26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1FBB30E3-696C-D108-A262-EE36D87EEF7F}"/>
              </a:ext>
            </a:extLst>
          </p:cNvPr>
          <p:cNvSpPr txBox="1"/>
          <p:nvPr/>
        </p:nvSpPr>
        <p:spPr>
          <a:xfrm>
            <a:off x="8502979" y="3691080"/>
            <a:ext cx="1762077" cy="954107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Stockage des données dans une base relationnelle MySQL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C3A9C122-13AB-8AA7-2D23-95BD1A993AA1}"/>
              </a:ext>
            </a:extLst>
          </p:cNvPr>
          <p:cNvSpPr txBox="1"/>
          <p:nvPr/>
        </p:nvSpPr>
        <p:spPr>
          <a:xfrm>
            <a:off x="8502977" y="4880691"/>
            <a:ext cx="1762077" cy="738664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Datamart 1 : production solaire agrégée</a:t>
            </a:r>
          </a:p>
        </p:txBody>
      </p:sp>
      <p:sp>
        <p:nvSpPr>
          <p:cNvPr id="1024" name="ZoneTexte 1023">
            <a:extLst>
              <a:ext uri="{FF2B5EF4-FFF2-40B4-BE49-F238E27FC236}">
                <a16:creationId xmlns:a16="http://schemas.microsoft.com/office/drawing/2014/main" id="{F92357A7-9022-4540-C7BE-84EAA04F68CD}"/>
              </a:ext>
            </a:extLst>
          </p:cNvPr>
          <p:cNvSpPr txBox="1"/>
          <p:nvPr/>
        </p:nvSpPr>
        <p:spPr>
          <a:xfrm>
            <a:off x="8502977" y="5847008"/>
            <a:ext cx="1762077" cy="954107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Datamart 2 : Production solaire enrichie de données météo</a:t>
            </a:r>
          </a:p>
        </p:txBody>
      </p:sp>
      <p:pic>
        <p:nvPicPr>
          <p:cNvPr id="1040" name="Picture 16" descr="Free Rest Api Blue Logo SVG, PNG Icon, Symbol. Download Image.">
            <a:extLst>
              <a:ext uri="{FF2B5EF4-FFF2-40B4-BE49-F238E27FC236}">
                <a16:creationId xmlns:a16="http://schemas.microsoft.com/office/drawing/2014/main" id="{EE166CA0-2BF0-6DEE-2200-DEE53FFA6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80"/>
          <a:stretch>
            <a:fillRect/>
          </a:stretch>
        </p:blipFill>
        <p:spPr bwMode="auto">
          <a:xfrm>
            <a:off x="11105725" y="1545985"/>
            <a:ext cx="991879" cy="87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8" name="Connecteur droit avec flèche 1027">
            <a:extLst>
              <a:ext uri="{FF2B5EF4-FFF2-40B4-BE49-F238E27FC236}">
                <a16:creationId xmlns:a16="http://schemas.microsoft.com/office/drawing/2014/main" id="{57BA895B-3881-77F1-44DD-2EB846D0DC26}"/>
              </a:ext>
            </a:extLst>
          </p:cNvPr>
          <p:cNvCxnSpPr>
            <a:stCxn id="20" idx="3"/>
            <a:endCxn id="1040" idx="1"/>
          </p:cNvCxnSpPr>
          <p:nvPr/>
        </p:nvCxnSpPr>
        <p:spPr>
          <a:xfrm flipV="1">
            <a:off x="9759143" y="1984497"/>
            <a:ext cx="1346582" cy="114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eur droit avec flèche 1029">
            <a:extLst>
              <a:ext uri="{FF2B5EF4-FFF2-40B4-BE49-F238E27FC236}">
                <a16:creationId xmlns:a16="http://schemas.microsoft.com/office/drawing/2014/main" id="{C32F7263-C4F7-AA5F-5C96-8F7FCF75A4DC}"/>
              </a:ext>
            </a:extLst>
          </p:cNvPr>
          <p:cNvCxnSpPr>
            <a:stCxn id="20" idx="3"/>
          </p:cNvCxnSpPr>
          <p:nvPr/>
        </p:nvCxnSpPr>
        <p:spPr>
          <a:xfrm>
            <a:off x="9759143" y="3125849"/>
            <a:ext cx="1158995" cy="105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8" name="Picture 24" descr="Tableau Logo, symbol, meaning, history, PNG, brand">
            <a:extLst>
              <a:ext uri="{FF2B5EF4-FFF2-40B4-BE49-F238E27FC236}">
                <a16:creationId xmlns:a16="http://schemas.microsoft.com/office/drawing/2014/main" id="{F9E96704-72DA-0CC2-E631-A8A96D3E1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137" y="4009276"/>
            <a:ext cx="1192546" cy="67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021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93</Words>
  <Application>Microsoft Office PowerPoint</Application>
  <PresentationFormat>Grand écran</PresentationFormat>
  <Paragraphs>17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Flavio TEXIER</dc:creator>
  <cp:lastModifiedBy>Flavio TEXIER</cp:lastModifiedBy>
  <cp:revision>1</cp:revision>
  <dcterms:created xsi:type="dcterms:W3CDTF">2026-02-05T09:56:22Z</dcterms:created>
  <dcterms:modified xsi:type="dcterms:W3CDTF">2026-02-05T16:37:08Z</dcterms:modified>
</cp:coreProperties>
</file>